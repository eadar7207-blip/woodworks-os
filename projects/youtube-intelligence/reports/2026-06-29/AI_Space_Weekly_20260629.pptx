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91840"/>
            <a:ext cx="12192000" cy="64008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40080"/>
            <a:ext cx="73152" cy="2331720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59436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SPACE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Intelligence Report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of Jun 29 - Jul 05,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June 29, 2026  ·  @eitanadar.ai  ·  AI &amp; Automation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12192000" cy="45720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1072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576072"/>
            <a:ext cx="1072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insights from the AI &amp; automation space — week of Jun 29 - Jul 05,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347472" cy="475488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78408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1005840"/>
            <a:ext cx="7909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is clearly segmenting: 'agentic AI' is the new power term replacing 'generative AI' — creators who use this framing are pulling more technical, higher-intent audiences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55064"/>
            <a:ext cx="347472" cy="475488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673352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4672" y="1700784"/>
            <a:ext cx="7909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is the dominant tool being featured this week across builders, designers, and automation creators — positioning around it is still wide open in the real estate niche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350008"/>
            <a:ext cx="347472" cy="475488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368296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04672" y="2395728"/>
            <a:ext cx="7909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Income-specific hooks massively outperform generic AI content — exact numbers ($90K, $0 cost, 30 days) drive clicks and watch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044952"/>
            <a:ext cx="347472" cy="475488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063240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04672" y="3090672"/>
            <a:ext cx="7909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automation is exploding as a business use case, especially for sales workflows — real estate is an obvious fit and underserved in this content space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739896"/>
            <a:ext cx="347472" cy="475488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758184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04672" y="3785616"/>
            <a:ext cx="7909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infrastructure (how to run agents reliably at scale) is becoming its own content category, signaling the audience is maturing past 'what is AI' into 'how do I actually deploy this'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12192000" cy="45720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1072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Videos This Week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576072"/>
            <a:ext cx="1072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by view count — past 7 days</a:t>
            </a:r>
            <a:endParaRPr lang="en-US" sz="900" dirty="0"/>
          </a:p>
        </p:txBody>
      </p:sp>
      <p:pic>
        <p:nvPicPr>
          <p:cNvPr id="6" name="Image 0" descr="/Users/main10servicesgmail.com/Desktop/Woodworks-OS/projects/youtube-intelligence/reports/charts/top_videos_202606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3210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12192000" cy="45720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1072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Channels in the AI Space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576072"/>
            <a:ext cx="1072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by subscriber count</a:t>
            </a:r>
            <a:endParaRPr lang="en-US" sz="900" dirty="0"/>
          </a:p>
        </p:txBody>
      </p:sp>
      <p:pic>
        <p:nvPicPr>
          <p:cNvPr id="6" name="Image 0" descr="/Users/main10servicesgmail.com/Desktop/Woodworks-OS/projects/youtube-intelligence/reports/charts/channels_202606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3210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12192000" cy="45720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1072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Analysis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576072"/>
            <a:ext cx="1072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 vs. like rate — bubble size = comment volume</a:t>
            </a:r>
            <a:endParaRPr lang="en-US" sz="900" dirty="0"/>
          </a:p>
        </p:txBody>
      </p:sp>
      <p:pic>
        <p:nvPicPr>
          <p:cNvPr id="6" name="Image 0" descr="/Users/main10servicesgmail.com/Desktop/Woodworks-OS/projects/youtube-intelligence/reports/charts/engagement_202606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321040" cy="3749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43484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High-right = high views + high engagement. Ideal quadrant for content inspiration.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12192000" cy="45720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1072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Trending Topics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576072"/>
            <a:ext cx="1072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score = video count × avg views (thousands)</a:t>
            </a:r>
            <a:endParaRPr lang="en-US" sz="900" dirty="0"/>
          </a:p>
        </p:txBody>
      </p:sp>
      <p:pic>
        <p:nvPicPr>
          <p:cNvPr id="6" name="Image 0" descr="/Users/main10servicesgmail.com/Desktop/Woodworks-OS/projects/youtube-intelligence/reports/charts/trending_topics_202606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3210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12192000" cy="45720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1072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 Patterns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576072"/>
            <a:ext cx="1072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hooks and content formats driving clicks this week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458200" cy="566928"/>
          </a:xfrm>
          <a:prstGeom prst="rect">
            <a:avLst/>
          </a:prstGeom>
          <a:solidFill>
            <a:srgbClr val="162D55"/>
          </a:solidFill>
          <a:ln w="7620">
            <a:solidFill>
              <a:srgbClr val="4A9E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60120"/>
            <a:ext cx="64008" cy="566928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051560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dollar amounts in the title ('$90K', '$0 cost') paired with 'steal it' or 'copy this' CTAs — signals free, actionable value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36776"/>
            <a:ext cx="8458200" cy="566928"/>
          </a:xfrm>
          <a:prstGeom prst="rect">
            <a:avLst/>
          </a:prstGeom>
          <a:solidFill>
            <a:srgbClr val="162D55"/>
          </a:solidFill>
          <a:ln w="7620">
            <a:solidFill>
              <a:srgbClr val="4A9E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36776"/>
            <a:ext cx="64008" cy="566928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728216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Challenge/experiment framing: 'I let an AI agent run X for 30 days' or 'I asked Claude to make me as much money as possible' — builds narrative tension and curiosity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313432"/>
            <a:ext cx="8458200" cy="566928"/>
          </a:xfrm>
          <a:prstGeom prst="rect">
            <a:avLst/>
          </a:prstGeom>
          <a:solidFill>
            <a:srgbClr val="162D55"/>
          </a:solidFill>
          <a:ln w="7620">
            <a:solidFill>
              <a:srgbClr val="4A9E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313432"/>
            <a:ext cx="64008" cy="566928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404872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Warning/urgency pattern: 'The ONLY 7 ways', 'Anthropic just replaced', 'YouTube's big crackdown' — creates FOMO around missing a shift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990088"/>
            <a:ext cx="8458200" cy="566928"/>
          </a:xfrm>
          <a:prstGeom prst="rect">
            <a:avLst/>
          </a:prstGeom>
          <a:solidFill>
            <a:srgbClr val="162D55"/>
          </a:solidFill>
          <a:ln w="7620">
            <a:solidFill>
              <a:srgbClr val="4A9E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990088"/>
            <a:ext cx="64008" cy="566928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3081528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Skill-to-income pipeline: 'Fresh grad makes $90K with these AI skills' — aspirational outcome with a clear implied path the viewer can follow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12192000" cy="45720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1072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Recommendations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576072"/>
            <a:ext cx="1072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@eitanadar.ai — based on gaps and trending themes this week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458200" cy="694944"/>
          </a:xfrm>
          <a:prstGeom prst="rect">
            <a:avLst/>
          </a:prstGeom>
          <a:solidFill>
            <a:srgbClr val="0A1E3D"/>
          </a:solidFill>
          <a:ln w="10160">
            <a:solidFill>
              <a:srgbClr val="4A9E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69848"/>
            <a:ext cx="320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051560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'The WhatsApp Automation Real Estate Agents Are Using to Follow Up 24/7 (Steal This)' — show a full n8n or Make scenario that handles new lead intake, follow-up sequences, and appointment booking via WhatsApp, framed specifically for real estate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783080"/>
            <a:ext cx="8458200" cy="694944"/>
          </a:xfrm>
          <a:prstGeom prst="rect">
            <a:avLst/>
          </a:prstGeom>
          <a:solidFill>
            <a:srgbClr val="0A1E3D"/>
          </a:solidFill>
          <a:ln w="10160">
            <a:solidFill>
              <a:srgbClr val="4A9E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892808"/>
            <a:ext cx="320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1874520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 Asked Claude Code to Build Me a Real Estate Lead Machine — Here's What Happened' — document an experiment where you use Claude Code to build a functional lead capture or CRM tool from scratch, riding the Claude Code wave with a real estate-specific spin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606040"/>
            <a:ext cx="8458200" cy="694944"/>
          </a:xfrm>
          <a:prstGeom prst="rect">
            <a:avLst/>
          </a:prstGeom>
          <a:solidFill>
            <a:srgbClr val="0A1E3D"/>
          </a:solidFill>
          <a:ln w="10160">
            <a:solidFill>
              <a:srgbClr val="4A9E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715768"/>
            <a:ext cx="320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2697480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'The Only 5 AI Automations Real Estate Agents Actually Need in 2026' — mirror the '7 ways to make money with AI' format but niche it down hard; cover lead follow-up, listing descriptions, comp reports, appointment scheduling, and client nurture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429000"/>
            <a:ext cx="8458200" cy="694944"/>
          </a:xfrm>
          <a:prstGeom prst="rect">
            <a:avLst/>
          </a:prstGeom>
          <a:solidFill>
            <a:srgbClr val="0A1E3D"/>
          </a:solidFill>
          <a:ln w="10160">
            <a:solidFill>
              <a:srgbClr val="4A9E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538728"/>
            <a:ext cx="320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3520440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'How I Built a Full AI Team for My Real Estate Business (and Fired the VA)' — mirror the 'full AI content creation team' format but apply it to real estate ops: prospecting, follow-up, content, admin — one agent per function, zero human overhead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12192000" cy="64008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73152" cy="2194560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400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curious. Stay ahead.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report analysed 10 videos  ·  7 themes identified  ·  5 channels tracked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578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next week: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8529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Agent adoption — if Alex Finn's video sparks a wave of tutorials, this model may challenge Claude Code's builder mindshare and is worth covering early  ·  YouTube AI video policy enforcement — the Hindi-language creator coverage suggests a policy update is either live or imminent; if it affects AI-generated content at scale it will hit automation creators hard  ·  Multi-agent orchestration frameworks — the 'millions of agents' and 'stop prompting one task at a time' signals suggest orchestration tools (CrewAI, LangGraph, Claude multi-agent) are about to get a content wave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June 29, 2026  ·  @eitanadar.ai  ·  Adar Realty Studio AI Intelligence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Space Weekly Report — Jun 29 - Jul 05, 2026</dc:title>
  <dc:subject>AI &amp; Automation YouTube Intelligence</dc:subject>
  <dc:creator>Eitan Adar — @eitanadar.ai</dc:creator>
  <cp:lastModifiedBy>Eitan Adar — @eitanadar.ai</cp:lastModifiedBy>
  <cp:revision>1</cp:revision>
  <dcterms:created xsi:type="dcterms:W3CDTF">2026-06-29T20:55:48Z</dcterms:created>
  <dcterms:modified xsi:type="dcterms:W3CDTF">2026-06-29T20:55:48Z</dcterms:modified>
</cp:coreProperties>
</file>